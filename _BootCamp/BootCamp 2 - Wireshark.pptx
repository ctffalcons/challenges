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5"/>
  </p:notesMasterIdLst>
  <p:sldIdLst>
    <p:sldId id="256" r:id="rId5"/>
    <p:sldId id="283" r:id="rId6"/>
    <p:sldId id="284" r:id="rId7"/>
    <p:sldId id="279" r:id="rId8"/>
    <p:sldId id="282" r:id="rId9"/>
    <p:sldId id="285" r:id="rId10"/>
    <p:sldId id="286" r:id="rId11"/>
    <p:sldId id="287" r:id="rId12"/>
    <p:sldId id="281"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86F210-6C7D-42C5-9ABD-82BB97E58555}" type="datetimeFigureOut">
              <a:rPr lang="en-GB" smtClean="0"/>
              <a:t>13/10/2024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2CDCB5-ABDD-45DC-A04F-A7FE2F6082D5}" type="slidenum">
              <a:rPr lang="en-GB" smtClean="0"/>
              <a:t>‹#›</a:t>
            </a:fld>
            <a:endParaRPr lang="en-GB"/>
          </a:p>
        </p:txBody>
      </p:sp>
    </p:spTree>
    <p:extLst>
      <p:ext uri="{BB962C8B-B14F-4D97-AF65-F5344CB8AC3E}">
        <p14:creationId xmlns:p14="http://schemas.microsoft.com/office/powerpoint/2010/main" val="1959416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first goal is to bridge the gap between what we get taught in the classroom and what we are expected to know and be able to do in order to work in industry. To this end, we will be running three internal CTFs this year, the winners of which will receive CompTIA Security+ and Pentest+ vouchers, as well as bringing our very own guest speakers in to provide insight into what life in industry is like, and what we can do to become as desirable as possible for employers.</a:t>
            </a:r>
          </a:p>
          <a:p>
            <a:endParaRPr lang="en-US"/>
          </a:p>
          <a:p>
            <a:r>
              <a:rPr lang="en-US"/>
              <a:t>Our first CTF is on November 2nd, it is dubbed "First responders" and is focused on Digital Forensics and Incident Response. We will be running bootcamps every Wednesday until that point in order to help prepare everyone to take part.</a:t>
            </a:r>
          </a:p>
          <a:p>
            <a:endParaRPr lang="en-US"/>
          </a:p>
          <a:p>
            <a:r>
              <a:rPr lang="en-US"/>
              <a:t>Our first guest speaker is Harvey Keane, UWE </a:t>
            </a:r>
            <a:r>
              <a:rPr lang="en-US" err="1"/>
              <a:t>alumn</a:t>
            </a:r>
            <a:r>
              <a:rPr lang="en-US"/>
              <a:t>, Falcons member and BAE employee. He got recruited after winning the BAE CTF and will be talking to us about life after </a:t>
            </a:r>
            <a:r>
              <a:rPr lang="en-US" err="1"/>
              <a:t>uni</a:t>
            </a:r>
            <a:r>
              <a:rPr lang="en-US"/>
              <a:t> on October 23rd</a:t>
            </a:r>
          </a:p>
          <a:p>
            <a:endParaRPr lang="en-US"/>
          </a:p>
          <a:p>
            <a:r>
              <a:rPr lang="en-US"/>
              <a:t>Some people raised the question of getting insight from industry during last week's APT. We’ll not only have guest speakers in to discuss their perspectives, but we also have a card game that has been used in industry to explain and detail the relationship between the financial side of things and the cyber side of things.</a:t>
            </a:r>
          </a:p>
          <a:p>
            <a:endParaRPr lang="en-US"/>
          </a:p>
          <a:p>
            <a:endParaRPr lang="en-US"/>
          </a:p>
          <a:p>
            <a:r>
              <a:rPr lang="en-US"/>
              <a:t>Our second goal is to provide a diverse and inclusive environment for students to find peers they can bounce ideas off of, and friends they can go through thick and thin with. As such, we will be hosting a variety of social events, including but not limited to: movie nights, pool nights and touching grass.</a:t>
            </a:r>
          </a:p>
          <a:p>
            <a:endParaRPr lang="en-US">
              <a:latin typeface="Aptos" panose="02110004020202020204"/>
              <a:ea typeface="Calibri"/>
              <a:cs typeface="Calibri"/>
            </a:endParaRPr>
          </a:p>
          <a:p>
            <a:r>
              <a:rPr lang="en-US"/>
              <a:t>2 hours from now, we’ll be hosting our second taster session in the Student Union’s meeting room 1, after which we will convene in the Student Union bar to celebrate having survived freshers another year, to welcome new members and say goodbye to graduating ones.</a:t>
            </a:r>
          </a:p>
          <a:p>
            <a:endParaRPr lang="en-US">
              <a:latin typeface="Aptos" panose="02110004020202020204"/>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2CDCB5-ABDD-45DC-A04F-A7FE2F6082D5}"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37228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4775974-AC05-47D5-8008-5EEF5CC66E81}" type="datetimeFigureOut">
              <a:rPr lang="en-GB" smtClean="0"/>
              <a:t>13/10/2024</a:t>
            </a:fld>
            <a:endParaRPr lang="en-GB"/>
          </a:p>
        </p:txBody>
      </p:sp>
      <p:sp>
        <p:nvSpPr>
          <p:cNvPr id="5" name="Footer Placeholder 4"/>
          <p:cNvSpPr>
            <a:spLocks noGrp="1"/>
          </p:cNvSpPr>
          <p:nvPr>
            <p:ph type="ftr" sz="quarter" idx="11"/>
          </p:nvPr>
        </p:nvSpPr>
        <p:spPr>
          <a:xfrm>
            <a:off x="1876424" y="5410201"/>
            <a:ext cx="5124886" cy="365125"/>
          </a:xfrm>
        </p:spPr>
        <p:txBody>
          <a:bodyPr/>
          <a:lstStyle/>
          <a:p>
            <a:endParaRPr lang="en-GB"/>
          </a:p>
        </p:txBody>
      </p:sp>
      <p:sp>
        <p:nvSpPr>
          <p:cNvPr id="6" name="Slide Number Placeholder 5"/>
          <p:cNvSpPr>
            <a:spLocks noGrp="1"/>
          </p:cNvSpPr>
          <p:nvPr>
            <p:ph type="sldNum" sz="quarter" idx="12"/>
          </p:nvPr>
        </p:nvSpPr>
        <p:spPr>
          <a:xfrm>
            <a:off x="9896911" y="5410199"/>
            <a:ext cx="771089" cy="365125"/>
          </a:xfrm>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4165096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775974-AC05-47D5-8008-5EEF5CC66E81}" type="datetimeFigureOut">
              <a:rPr lang="en-GB" smtClean="0"/>
              <a:t>13/10/2024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1986065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75974-AC05-47D5-8008-5EEF5CC66E81}" type="datetimeFigureOut">
              <a:rPr lang="en-GB" smtClean="0"/>
              <a:t>13/10/2024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277481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126359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775974-AC05-47D5-8008-5EEF5CC66E81}" type="datetimeFigureOut">
              <a:rPr lang="en-GB" smtClean="0"/>
              <a:t>13/10/2024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1521264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775974-AC05-47D5-8008-5EEF5CC66E81}" type="datetimeFigureOut">
              <a:rPr lang="en-GB" smtClean="0"/>
              <a:t>13/10/2024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3652038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775974-AC05-47D5-8008-5EEF5CC66E81}" type="datetimeFigureOut">
              <a:rPr lang="en-GB" smtClean="0"/>
              <a:t>13/10/2024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3597431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334518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2662983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1688612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2859384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2099761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75974-AC05-47D5-8008-5EEF5CC66E81}" type="datetimeFigureOut">
              <a:rPr lang="en-GB" smtClean="0"/>
              <a:t>13/10/2024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4081556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4775974-AC05-47D5-8008-5EEF5CC66E81}" type="datetimeFigureOut">
              <a:rPr lang="en-GB" smtClean="0"/>
              <a:t>13/10/2024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2599269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4775974-AC05-47D5-8008-5EEF5CC66E81}" type="datetimeFigureOut">
              <a:rPr lang="en-GB" smtClean="0"/>
              <a:t>13/10/2024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3789340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775974-AC05-47D5-8008-5EEF5CC66E81}" type="datetimeFigureOut">
              <a:rPr lang="en-GB" smtClean="0"/>
              <a:t>13/10/2024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2988664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775974-AC05-47D5-8008-5EEF5CC66E81}" type="datetimeFigureOut">
              <a:rPr lang="en-GB" smtClean="0"/>
              <a:t>13/10/2024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5CE395E-49CE-4E08-AA7B-2A0BE05AA451}" type="slidenum">
              <a:rPr lang="en-GB" smtClean="0"/>
              <a:t>‹#›</a:t>
            </a:fld>
            <a:endParaRPr lang="en-GB"/>
          </a:p>
        </p:txBody>
      </p:sp>
    </p:spTree>
    <p:extLst>
      <p:ext uri="{BB962C8B-B14F-4D97-AF65-F5344CB8AC3E}">
        <p14:creationId xmlns:p14="http://schemas.microsoft.com/office/powerpoint/2010/main" val="337584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4775974-AC05-47D5-8008-5EEF5CC66E81}" type="datetimeFigureOut">
              <a:rPr lang="en-GB" smtClean="0"/>
              <a:t>13/10/2024</a:t>
            </a:fld>
            <a:endParaRPr lang="en-GB"/>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5CE395E-49CE-4E08-AA7B-2A0BE05AA451}" type="slidenum">
              <a:rPr lang="en-GB" smtClean="0"/>
              <a:t>‹#›</a:t>
            </a:fld>
            <a:endParaRPr lang="en-GB"/>
          </a:p>
        </p:txBody>
      </p:sp>
    </p:spTree>
    <p:extLst>
      <p:ext uri="{BB962C8B-B14F-4D97-AF65-F5344CB8AC3E}">
        <p14:creationId xmlns:p14="http://schemas.microsoft.com/office/powerpoint/2010/main" val="342962287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mailto:ctf@baesystems.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mailto:contact@ctffalcons.com"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tryhackme.com/r/room/wiresharkpacketoperations" TargetMode="External"/><Relationship Id="rId5" Type="http://schemas.openxmlformats.org/officeDocument/2006/relationships/hyperlink" Target="https://tryhackme.com/r/room/wiresharkthebasics" TargetMode="External"/><Relationship Id="rId4" Type="http://schemas.openxmlformats.org/officeDocument/2006/relationships/hyperlink" Target="https://tryhackme.com/module/wireshark"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malware-traffic-analysis.net/index.html"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dataset.tlm.unavarra.es/ransomwar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malware-traffic-analysis.net/index.html"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dataset.tlm.unavarra.es/ransomware/"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CTFFalcons/Challenges/tree/main/_BootCamp"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CTFFalcons/Challenges/tree/main/_BootCamp"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13D2ABE-BDFA-4E3C-95AE-79E7F90C9CFF}"/>
              </a:ext>
            </a:extLst>
          </p:cNvPr>
          <p:cNvSpPr txBox="1"/>
          <p:nvPr/>
        </p:nvSpPr>
        <p:spPr>
          <a:xfrm>
            <a:off x="2849757" y="144202"/>
            <a:ext cx="6492483" cy="1077218"/>
          </a:xfrm>
          <a:prstGeom prst="rect">
            <a:avLst/>
          </a:prstGeom>
          <a:noFill/>
        </p:spPr>
        <p:txBody>
          <a:bodyPr wrap="none" rtlCol="0">
            <a:spAutoFit/>
          </a:bodyPr>
          <a:lstStyle/>
          <a:p>
            <a:pPr algn="ctr"/>
            <a:r>
              <a:rPr lang="en-US" sz="3200" dirty="0"/>
              <a:t>Dun-Dun.. Dun-Dun.. Dun-Dun-Dun-Dun..</a:t>
            </a:r>
          </a:p>
          <a:p>
            <a:pPr algn="ctr"/>
            <a:r>
              <a:rPr lang="en-US" sz="3200" dirty="0"/>
              <a:t>Wireshark</a:t>
            </a:r>
            <a:endParaRPr lang="en-GB" sz="3200" dirty="0"/>
          </a:p>
        </p:txBody>
      </p:sp>
      <p:pic>
        <p:nvPicPr>
          <p:cNvPr id="2" name="Picture 1">
            <a:extLst>
              <a:ext uri="{FF2B5EF4-FFF2-40B4-BE49-F238E27FC236}">
                <a16:creationId xmlns:a16="http://schemas.microsoft.com/office/drawing/2014/main" id="{8ACCF93C-8650-D932-3E6D-6234EEA25E38}"/>
              </a:ext>
            </a:extLst>
          </p:cNvPr>
          <p:cNvPicPr>
            <a:picLocks noChangeAspect="1"/>
          </p:cNvPicPr>
          <p:nvPr/>
        </p:nvPicPr>
        <p:blipFill>
          <a:blip r:embed="rId2"/>
          <a:stretch>
            <a:fillRect/>
          </a:stretch>
        </p:blipFill>
        <p:spPr>
          <a:xfrm>
            <a:off x="10491464" y="0"/>
            <a:ext cx="1359526" cy="1365622"/>
          </a:xfrm>
          <a:prstGeom prst="rect">
            <a:avLst/>
          </a:prstGeom>
        </p:spPr>
      </p:pic>
      <p:pic>
        <p:nvPicPr>
          <p:cNvPr id="4" name="Picture 3" descr="A blue fin with white text&#10;&#10;Description automatically generated">
            <a:extLst>
              <a:ext uri="{FF2B5EF4-FFF2-40B4-BE49-F238E27FC236}">
                <a16:creationId xmlns:a16="http://schemas.microsoft.com/office/drawing/2014/main" id="{CF266962-7833-60A9-DA30-0D6A843DC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105" y="1384106"/>
            <a:ext cx="4089788" cy="4089788"/>
          </a:xfrm>
          <a:prstGeom prst="rect">
            <a:avLst/>
          </a:prstGeom>
        </p:spPr>
      </p:pic>
    </p:spTree>
    <p:extLst>
      <p:ext uri="{BB962C8B-B14F-4D97-AF65-F5344CB8AC3E}">
        <p14:creationId xmlns:p14="http://schemas.microsoft.com/office/powerpoint/2010/main" val="3821980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7CC327-7EF2-8388-C8A2-F96BB25A0BD2}"/>
              </a:ext>
            </a:extLst>
          </p:cNvPr>
          <p:cNvSpPr txBox="1"/>
          <p:nvPr/>
        </p:nvSpPr>
        <p:spPr>
          <a:xfrm>
            <a:off x="4799010" y="159591"/>
            <a:ext cx="2593980"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Announcements</a:t>
            </a: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3" name="TextBox 2">
            <a:extLst>
              <a:ext uri="{FF2B5EF4-FFF2-40B4-BE49-F238E27FC236}">
                <a16:creationId xmlns:a16="http://schemas.microsoft.com/office/drawing/2014/main" id="{3B795520-6635-66A8-7C6B-923F95B7E555}"/>
              </a:ext>
            </a:extLst>
          </p:cNvPr>
          <p:cNvSpPr txBox="1"/>
          <p:nvPr/>
        </p:nvSpPr>
        <p:spPr>
          <a:xfrm>
            <a:off x="893486" y="733246"/>
            <a:ext cx="10696646" cy="6124754"/>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CTF Sign Ups! Head Over to our SU Page to sign up!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First Responders CTF – Sat. 2</a:t>
            </a:r>
            <a:r>
              <a:rPr lang="en-US" sz="2800" b="1" baseline="30000" dirty="0">
                <a:solidFill>
                  <a:prstClr val="black"/>
                </a:solidFill>
                <a:latin typeface="Tw Cen MT" panose="020B0602020104020603"/>
              </a:rPr>
              <a:t>nd</a:t>
            </a:r>
            <a:r>
              <a:rPr lang="en-US" sz="2800" b="1" dirty="0">
                <a:solidFill>
                  <a:prstClr val="black"/>
                </a:solidFill>
                <a:latin typeface="Tw Cen MT" panose="020B0602020104020603"/>
              </a:rPr>
              <a:t> of Nov 10am-6pm + after party!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800" b="1" dirty="0">
              <a:solidFill>
                <a:prstClr val="black"/>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BAE CTF – email </a:t>
            </a:r>
            <a:r>
              <a:rPr lang="en-US" sz="2800" b="1" dirty="0">
                <a:solidFill>
                  <a:srgbClr val="002060"/>
                </a:solidFill>
                <a:latin typeface="Tw Cen MT" panose="020B0602020104020603"/>
                <a:hlinkClick r:id="rId2">
                  <a:extLst>
                    <a:ext uri="{A12FA001-AC4F-418D-AE19-62706E023703}">
                      <ahyp:hlinkClr xmlns:ahyp="http://schemas.microsoft.com/office/drawing/2018/hyperlinkcolor" val="tx"/>
                    </a:ext>
                  </a:extLst>
                </a:hlinkClick>
              </a:rPr>
              <a:t>ctf@baesystems.com</a:t>
            </a:r>
            <a:r>
              <a:rPr lang="en-US" sz="2800" b="1" dirty="0">
                <a:solidFill>
                  <a:srgbClr val="002060"/>
                </a:solidFill>
                <a:latin typeface="Tw Cen MT" panose="020B0602020104020603"/>
              </a:rPr>
              <a:t> </a:t>
            </a:r>
            <a:r>
              <a:rPr lang="en-US" sz="2800" b="1" dirty="0">
                <a:solidFill>
                  <a:prstClr val="black"/>
                </a:solidFill>
                <a:latin typeface="Tw Cen MT" panose="020B0602020104020603"/>
              </a:rPr>
              <a:t>with name, team, year of study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and course title by October 16</a:t>
            </a:r>
            <a:r>
              <a:rPr lang="en-US" sz="2800" b="1" baseline="30000" dirty="0">
                <a:solidFill>
                  <a:prstClr val="black"/>
                </a:solidFill>
                <a:latin typeface="Tw Cen MT" panose="020B0602020104020603"/>
              </a:rPr>
              <a:t>th</a:t>
            </a:r>
            <a:r>
              <a:rPr lang="en-US" sz="2800" b="1" dirty="0">
                <a:solidFill>
                  <a:prstClr val="black"/>
                </a:solidFill>
                <a:latin typeface="Tw Cen MT" panose="020B0602020104020603"/>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dirty="0" err="1">
                <a:solidFill>
                  <a:prstClr val="black"/>
                </a:solidFill>
                <a:latin typeface="Tw Cen MT" panose="020B0602020104020603"/>
              </a:rPr>
              <a:t>CyberWomen@UWE</a:t>
            </a:r>
            <a:r>
              <a:rPr lang="en-US" sz="2800" b="1" dirty="0">
                <a:solidFill>
                  <a:prstClr val="black"/>
                </a:solidFill>
                <a:latin typeface="Tw Cen MT" panose="020B0602020104020603"/>
              </a:rPr>
              <a:t> Presents..</a:t>
            </a: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The Hunt for the Encrypted Elves CTF – Sat. 7</a:t>
            </a:r>
            <a:r>
              <a:rPr lang="en-US" sz="2800" b="1" baseline="30000" dirty="0">
                <a:solidFill>
                  <a:prstClr val="black"/>
                </a:solidFill>
                <a:latin typeface="Tw Cen MT" panose="020B0602020104020603"/>
              </a:rPr>
              <a:t>th</a:t>
            </a:r>
            <a:r>
              <a:rPr lang="en-US" sz="2800" b="1" dirty="0">
                <a:solidFill>
                  <a:prstClr val="black"/>
                </a:solidFill>
                <a:latin typeface="Tw Cen MT" panose="020B0602020104020603"/>
              </a:rPr>
              <a:t> of Dec. 10am-6pm,</a:t>
            </a:r>
          </a:p>
          <a:p>
            <a:pPr marL="0" marR="0" lvl="0" indent="0"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Christmas Treats when you capture a flag, Snacks and seasonal fun.</a:t>
            </a:r>
          </a:p>
          <a:p>
            <a:pPr marL="0" marR="0" lvl="0" indent="0" defTabSz="457200" rtl="0" eaLnBrk="1" fontAlgn="auto" latinLnBrk="0" hangingPunct="1">
              <a:lnSpc>
                <a:spcPct val="100000"/>
              </a:lnSpc>
              <a:spcBef>
                <a:spcPts val="0"/>
              </a:spcBef>
              <a:spcAft>
                <a:spcPts val="0"/>
              </a:spcAft>
              <a:buClrTx/>
              <a:buSzTx/>
              <a:buFontTx/>
              <a:buNone/>
              <a:tabLst/>
              <a:defRPr/>
            </a:pPr>
            <a:endParaRPr lang="en-US" sz="2800" b="1" dirty="0">
              <a:solidFill>
                <a:prstClr val="black"/>
              </a:solidFill>
              <a:latin typeface="Tw Cen MT" panose="020B0602020104020603"/>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MEMBERSHIP!</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800" b="1" dirty="0">
              <a:solidFill>
                <a:prstClr val="black"/>
              </a:solidFill>
              <a:latin typeface="Tw Cen MT" panose="020B0602020104020603"/>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PLEASE SIGN UP NOW!</a:t>
            </a:r>
          </a:p>
        </p:txBody>
      </p:sp>
      <p:pic>
        <p:nvPicPr>
          <p:cNvPr id="4" name="Picture 3">
            <a:extLst>
              <a:ext uri="{FF2B5EF4-FFF2-40B4-BE49-F238E27FC236}">
                <a16:creationId xmlns:a16="http://schemas.microsoft.com/office/drawing/2014/main" id="{74FF3E42-FF62-2A3C-14F2-489F02A475C3}"/>
              </a:ext>
            </a:extLst>
          </p:cNvPr>
          <p:cNvPicPr>
            <a:picLocks noChangeAspect="1"/>
          </p:cNvPicPr>
          <p:nvPr/>
        </p:nvPicPr>
        <p:blipFill>
          <a:blip r:embed="rId3"/>
          <a:stretch>
            <a:fillRect/>
          </a:stretch>
        </p:blipFill>
        <p:spPr>
          <a:xfrm>
            <a:off x="10211601" y="0"/>
            <a:ext cx="1359526" cy="1365622"/>
          </a:xfrm>
          <a:prstGeom prst="rect">
            <a:avLst/>
          </a:prstGeom>
        </p:spPr>
      </p:pic>
    </p:spTree>
    <p:extLst>
      <p:ext uri="{BB962C8B-B14F-4D97-AF65-F5344CB8AC3E}">
        <p14:creationId xmlns:p14="http://schemas.microsoft.com/office/powerpoint/2010/main" val="265246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73956-A935-6490-20C0-6271A07D781A}"/>
              </a:ext>
            </a:extLst>
          </p:cNvPr>
          <p:cNvSpPr txBox="1"/>
          <p:nvPr/>
        </p:nvSpPr>
        <p:spPr>
          <a:xfrm>
            <a:off x="4061372" y="159591"/>
            <a:ext cx="4069256"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More Boring Admin Stuff!!</a:t>
            </a: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pic>
        <p:nvPicPr>
          <p:cNvPr id="3" name="Picture 2">
            <a:extLst>
              <a:ext uri="{FF2B5EF4-FFF2-40B4-BE49-F238E27FC236}">
                <a16:creationId xmlns:a16="http://schemas.microsoft.com/office/drawing/2014/main" id="{39643C4D-1477-CF22-887A-75EC46EA11EB}"/>
              </a:ext>
            </a:extLst>
          </p:cNvPr>
          <p:cNvPicPr>
            <a:picLocks noChangeAspect="1"/>
          </p:cNvPicPr>
          <p:nvPr/>
        </p:nvPicPr>
        <p:blipFill>
          <a:blip r:embed="rId2"/>
          <a:stretch>
            <a:fillRect/>
          </a:stretch>
        </p:blipFill>
        <p:spPr>
          <a:xfrm>
            <a:off x="10218583" y="0"/>
            <a:ext cx="1359526" cy="1365622"/>
          </a:xfrm>
          <a:prstGeom prst="rect">
            <a:avLst/>
          </a:prstGeom>
        </p:spPr>
      </p:pic>
      <p:sp>
        <p:nvSpPr>
          <p:cNvPr id="4" name="TextBox 3">
            <a:extLst>
              <a:ext uri="{FF2B5EF4-FFF2-40B4-BE49-F238E27FC236}">
                <a16:creationId xmlns:a16="http://schemas.microsoft.com/office/drawing/2014/main" id="{47B3E8BD-EF84-3F17-B00E-A20560A8C68C}"/>
              </a:ext>
            </a:extLst>
          </p:cNvPr>
          <p:cNvSpPr txBox="1"/>
          <p:nvPr/>
        </p:nvSpPr>
        <p:spPr>
          <a:xfrm>
            <a:off x="1044072" y="930943"/>
            <a:ext cx="10389062" cy="5693866"/>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Committee Positions Applications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800" b="1" dirty="0">
              <a:solidFill>
                <a:prstClr val="black"/>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Deadline: 23</a:t>
            </a:r>
            <a:r>
              <a:rPr kumimoji="0" lang="en-US" sz="2800" b="1" i="0" u="none" strike="noStrike" kern="1200" cap="none" spc="0" normalizeH="0" baseline="30000" noProof="0" dirty="0">
                <a:ln>
                  <a:noFill/>
                </a:ln>
                <a:solidFill>
                  <a:prstClr val="black"/>
                </a:solidFill>
                <a:effectLst/>
                <a:uLnTx/>
                <a:uFillTx/>
                <a:latin typeface="Tw Cen MT" panose="020B0602020104020603"/>
                <a:ea typeface="+mn-ea"/>
                <a:cs typeface="+mn-cs"/>
              </a:rPr>
              <a:t>rd</a:t>
            </a: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 October ‘24</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800" b="1" dirty="0">
              <a:solidFill>
                <a:prstClr val="black"/>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Please email us at </a:t>
            </a:r>
            <a:r>
              <a:rPr kumimoji="0" lang="en-US" sz="2800" b="1" i="0" u="none" strike="noStrike" kern="1200" cap="none" spc="0" normalizeH="0" baseline="0" noProof="0" dirty="0">
                <a:ln>
                  <a:noFill/>
                </a:ln>
                <a:solidFill>
                  <a:srgbClr val="0070C0"/>
                </a:solidFill>
                <a:effectLst/>
                <a:uLnTx/>
                <a:uFillTx/>
                <a:latin typeface="Tw Cen MT" panose="020B0602020104020603"/>
                <a:ea typeface="+mn-ea"/>
                <a:cs typeface="+mn-cs"/>
                <a:hlinkClick r:id="rId3">
                  <a:extLst>
                    <a:ext uri="{A12FA001-AC4F-418D-AE19-62706E023703}">
                      <ahyp:hlinkClr xmlns:ahyp="http://schemas.microsoft.com/office/drawing/2018/hyperlinkcolor" val="tx"/>
                    </a:ext>
                  </a:extLst>
                </a:hlinkClick>
              </a:rPr>
              <a:t>contact@ctffalcons.com</a:t>
            </a:r>
            <a:r>
              <a:rPr kumimoji="0" lang="en-US" sz="2800" b="1" i="0" u="none" strike="noStrike" kern="1200" cap="none" spc="0" normalizeH="0" baseline="0" noProof="0" dirty="0">
                <a:ln>
                  <a:noFill/>
                </a:ln>
                <a:solidFill>
                  <a:srgbClr val="0070C0"/>
                </a:solidFill>
                <a:effectLst/>
                <a:uLnTx/>
                <a:uFillTx/>
                <a:latin typeface="Tw Cen MT" panose="020B0602020104020603"/>
                <a:ea typeface="+mn-ea"/>
                <a:cs typeface="+mn-cs"/>
              </a:rPr>
              <a:t> </a:t>
            </a:r>
            <a:r>
              <a:rPr kumimoji="0" lang="en-US" sz="2800" b="1" i="0" u="none" strike="noStrike" kern="1200" cap="none" spc="0" normalizeH="0" baseline="0" noProof="0" dirty="0">
                <a:ln>
                  <a:noFill/>
                </a:ln>
                <a:effectLst/>
                <a:uLnTx/>
                <a:uFillTx/>
                <a:latin typeface="Tw Cen MT" panose="020B0602020104020603"/>
                <a:ea typeface="+mn-ea"/>
                <a:cs typeface="+mn-cs"/>
              </a:rPr>
              <a:t>with the subject header</a:t>
            </a:r>
            <a:endParaRPr lang="en-US" sz="2800" b="1" dirty="0">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Tw Cen MT" panose="020B0602020104020603"/>
                <a:ea typeface="+mn-ea"/>
                <a:cs typeface="+mn-cs"/>
              </a:rPr>
              <a:t>Committee </a:t>
            </a:r>
            <a:r>
              <a:rPr lang="en-US" sz="2800" b="1" dirty="0">
                <a:latin typeface="Tw Cen MT" panose="020B0602020104020603"/>
              </a:rPr>
              <a:t>Application.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latin typeface="Tw Cen MT" panose="020B0602020104020603"/>
              </a:rPr>
              <a:t>Please include a short manifesto of why you’d be good for the role.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latin typeface="Tw Cen MT" panose="020B0602020104020603"/>
              </a:rPr>
              <a:t>Open Positions: Social Events Officer, Society Secretary and Freshers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Tw Cen MT" panose="020B0602020104020603"/>
                <a:ea typeface="+mn-ea"/>
                <a:cs typeface="+mn-cs"/>
              </a:rPr>
              <a:t>Experience Officer.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800" b="1" dirty="0">
              <a:latin typeface="Tw Cen MT" panose="020B0602020104020603"/>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Tw Cen MT" panose="020B0602020104020603"/>
                <a:ea typeface="+mn-ea"/>
                <a:cs typeface="+mn-cs"/>
              </a:rPr>
              <a:t>https://www.ctffalcons.com/committee</a:t>
            </a:r>
          </a:p>
        </p:txBody>
      </p:sp>
    </p:spTree>
    <p:extLst>
      <p:ext uri="{BB962C8B-B14F-4D97-AF65-F5344CB8AC3E}">
        <p14:creationId xmlns:p14="http://schemas.microsoft.com/office/powerpoint/2010/main" val="1956204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CC0C49-5C24-7A70-A1EF-03A2B7C3B070}"/>
              </a:ext>
            </a:extLst>
          </p:cNvPr>
          <p:cNvSpPr txBox="1"/>
          <p:nvPr/>
        </p:nvSpPr>
        <p:spPr>
          <a:xfrm>
            <a:off x="3165390" y="162474"/>
            <a:ext cx="5861220"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Welcome to Network Traffic Analysis!!</a:t>
            </a:r>
          </a:p>
        </p:txBody>
      </p:sp>
      <p:pic>
        <p:nvPicPr>
          <p:cNvPr id="4" name="Picture 3" descr="A shield with a red eagle and white text&#10;&#10;Description automatically generated">
            <a:extLst>
              <a:ext uri="{FF2B5EF4-FFF2-40B4-BE49-F238E27FC236}">
                <a16:creationId xmlns:a16="http://schemas.microsoft.com/office/drawing/2014/main" id="{CE598CA1-7ED7-B4F9-7C59-2061D2DAA8CB}"/>
              </a:ext>
            </a:extLst>
          </p:cNvPr>
          <p:cNvPicPr>
            <a:picLocks noChangeAspect="1"/>
          </p:cNvPicPr>
          <p:nvPr/>
        </p:nvPicPr>
        <p:blipFill>
          <a:blip r:embed="rId3"/>
          <a:stretch>
            <a:fillRect/>
          </a:stretch>
        </p:blipFill>
        <p:spPr>
          <a:xfrm>
            <a:off x="10203842" y="0"/>
            <a:ext cx="1357354" cy="1364974"/>
          </a:xfrm>
          <a:prstGeom prst="rect">
            <a:avLst/>
          </a:prstGeom>
        </p:spPr>
      </p:pic>
      <p:sp>
        <p:nvSpPr>
          <p:cNvPr id="13" name="TextBox 12">
            <a:extLst>
              <a:ext uri="{FF2B5EF4-FFF2-40B4-BE49-F238E27FC236}">
                <a16:creationId xmlns:a16="http://schemas.microsoft.com/office/drawing/2014/main" id="{956F1F80-3C1C-F218-5147-75763B319BCF}"/>
              </a:ext>
            </a:extLst>
          </p:cNvPr>
          <p:cNvSpPr txBox="1"/>
          <p:nvPr/>
        </p:nvSpPr>
        <p:spPr>
          <a:xfrm>
            <a:off x="1483063" y="1072586"/>
            <a:ext cx="8720779"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Tw Cen MT" panose="020B0602020104020603"/>
              </a:rPr>
              <a:t>Resources: To get you started with Wireshark here are a list of rooms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w Cen MT" panose="020B0602020104020603"/>
                <a:ea typeface="+mn-ea"/>
                <a:cs typeface="+mn-cs"/>
              </a:rPr>
              <a:t>On </a:t>
            </a:r>
            <a:r>
              <a:rPr kumimoji="0" lang="en-US" sz="2400" b="0" i="0" u="none" strike="noStrike" kern="1200" cap="none" spc="0" normalizeH="0" baseline="0" noProof="0" dirty="0" err="1">
                <a:ln>
                  <a:noFill/>
                </a:ln>
                <a:solidFill>
                  <a:prstClr val="black"/>
                </a:solidFill>
                <a:effectLst/>
                <a:uLnTx/>
                <a:uFillTx/>
                <a:latin typeface="Tw Cen MT" panose="020B0602020104020603"/>
                <a:ea typeface="+mn-ea"/>
                <a:cs typeface="+mn-cs"/>
              </a:rPr>
              <a:t>Tryhackme</a:t>
            </a:r>
            <a:r>
              <a:rPr kumimoji="0" lang="en-US" sz="2400" b="0" i="0" u="none" strike="noStrike" kern="1200" cap="none" spc="0" normalizeH="0" baseline="0" noProof="0" dirty="0">
                <a:ln>
                  <a:noFill/>
                </a:ln>
                <a:solidFill>
                  <a:prstClr val="black"/>
                </a:solidFill>
                <a:effectLst/>
                <a:uLnTx/>
                <a:uFillTx/>
                <a:latin typeface="Tw Cen MT" panose="020B0602020104020603"/>
                <a:ea typeface="+mn-ea"/>
                <a:cs typeface="+mn-cs"/>
              </a:rPr>
              <a:t> to get you started: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dirty="0">
              <a:solidFill>
                <a:prstClr val="black"/>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hlinkClick r:id="rId4">
                  <a:extLst>
                    <a:ext uri="{A12FA001-AC4F-418D-AE19-62706E023703}">
                      <ahyp:hlinkClr xmlns:ahyp="http://schemas.microsoft.com/office/drawing/2018/hyperlinkcolor" val="tx"/>
                    </a:ext>
                  </a:extLst>
                </a:hlinkClick>
              </a:rPr>
              <a:t>https://tryhackme.com/module/wireshark</a:t>
            </a:r>
            <a:endPar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dirty="0">
              <a:solidFill>
                <a:srgbClr val="00206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hlinkClick r:id="rId5">
                  <a:extLst>
                    <a:ext uri="{A12FA001-AC4F-418D-AE19-62706E023703}">
                      <ahyp:hlinkClr xmlns:ahyp="http://schemas.microsoft.com/office/drawing/2018/hyperlinkcolor" val="tx"/>
                    </a:ext>
                  </a:extLst>
                </a:hlinkClick>
              </a:rPr>
              <a:t>https://tryhackme.com/r/room/wiresharkthebasics</a:t>
            </a:r>
            <a:endPar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dirty="0">
              <a:solidFill>
                <a:srgbClr val="00206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hlinkClick r:id="rId6">
                  <a:extLst>
                    <a:ext uri="{A12FA001-AC4F-418D-AE19-62706E023703}">
                      <ahyp:hlinkClr xmlns:ahyp="http://schemas.microsoft.com/office/drawing/2018/hyperlinkcolor" val="tx"/>
                    </a:ext>
                  </a:extLst>
                </a:hlinkClick>
              </a:rPr>
              <a:t>https://tryhackme.com/r/room/wiresharkpacketoperations</a:t>
            </a:r>
            <a:endPar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dirty="0">
              <a:solidFill>
                <a:srgbClr val="00206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Tw Cen MT" panose="020B0602020104020603"/>
                <a:ea typeface="+mn-ea"/>
                <a:cs typeface="+mn-cs"/>
              </a:rPr>
              <a:t>https://tryhackme.com/r/room/wiresharktrafficanalysis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dirty="0">
              <a:solidFill>
                <a:prstClr val="black"/>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Tw Cen MT" panose="020B0602020104020603"/>
                <a:ea typeface="+mn-ea"/>
                <a:cs typeface="+mn-cs"/>
              </a:rPr>
              <a:t>Note: If you have any questions on any of these, feel free to drop by one of our Eyas Support Drop-</a:t>
            </a:r>
            <a:r>
              <a:rPr lang="en-US" sz="2400" dirty="0">
                <a:latin typeface="Tw Cen MT" panose="020B0602020104020603"/>
              </a:rPr>
              <a:t>In sessions in the Hex Hive Tuesdays and Fridays 2-4pm.</a:t>
            </a:r>
            <a:endParaRPr kumimoji="0" lang="en-US" sz="2400" b="0" i="0" u="none" strike="noStrike" kern="1200" cap="none" spc="0" normalizeH="0" baseline="0" noProof="0" dirty="0">
              <a:ln>
                <a:noFill/>
              </a:ln>
              <a:effectLst/>
              <a:uLnTx/>
              <a:uFillTx/>
              <a:latin typeface="Tw Cen MT" panose="020B0602020104020603"/>
              <a:ea typeface="+mn-ea"/>
              <a:cs typeface="+mn-cs"/>
            </a:endParaRPr>
          </a:p>
        </p:txBody>
      </p:sp>
    </p:spTree>
    <p:extLst>
      <p:ext uri="{BB962C8B-B14F-4D97-AF65-F5344CB8AC3E}">
        <p14:creationId xmlns:p14="http://schemas.microsoft.com/office/powerpoint/2010/main" val="3795320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F9E07F-877F-5AC6-D298-BF33E1EFE72B}"/>
              </a:ext>
            </a:extLst>
          </p:cNvPr>
          <p:cNvSpPr txBox="1"/>
          <p:nvPr/>
        </p:nvSpPr>
        <p:spPr>
          <a:xfrm>
            <a:off x="3626830" y="159591"/>
            <a:ext cx="4938340"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I think we need a bigger boat…</a:t>
            </a:r>
          </a:p>
        </p:txBody>
      </p:sp>
      <p:pic>
        <p:nvPicPr>
          <p:cNvPr id="5" name="Picture 4">
            <a:extLst>
              <a:ext uri="{FF2B5EF4-FFF2-40B4-BE49-F238E27FC236}">
                <a16:creationId xmlns:a16="http://schemas.microsoft.com/office/drawing/2014/main" id="{1472F106-A9C8-836B-94A7-595BE7AB3749}"/>
              </a:ext>
            </a:extLst>
          </p:cNvPr>
          <p:cNvPicPr>
            <a:picLocks noChangeAspect="1"/>
          </p:cNvPicPr>
          <p:nvPr/>
        </p:nvPicPr>
        <p:blipFill>
          <a:blip r:embed="rId2"/>
          <a:stretch>
            <a:fillRect/>
          </a:stretch>
        </p:blipFill>
        <p:spPr>
          <a:xfrm>
            <a:off x="10209166" y="0"/>
            <a:ext cx="1359526" cy="1365622"/>
          </a:xfrm>
          <a:prstGeom prst="rect">
            <a:avLst/>
          </a:prstGeom>
        </p:spPr>
      </p:pic>
      <p:sp>
        <p:nvSpPr>
          <p:cNvPr id="6" name="TextBox 5">
            <a:extLst>
              <a:ext uri="{FF2B5EF4-FFF2-40B4-BE49-F238E27FC236}">
                <a16:creationId xmlns:a16="http://schemas.microsoft.com/office/drawing/2014/main" id="{97B5B219-582A-0F92-B20A-88CD3243C816}"/>
              </a:ext>
            </a:extLst>
          </p:cNvPr>
          <p:cNvSpPr txBox="1"/>
          <p:nvPr/>
        </p:nvSpPr>
        <p:spPr>
          <a:xfrm>
            <a:off x="1184423" y="797510"/>
            <a:ext cx="10190482" cy="5262979"/>
          </a:xfrm>
          <a:prstGeom prst="rect">
            <a:avLst/>
          </a:prstGeom>
          <a:noFill/>
        </p:spPr>
        <p:txBody>
          <a:bodyPr wrap="none" rtlCol="0">
            <a:spAutoFit/>
          </a:bodyPr>
          <a:lstStyle/>
          <a:p>
            <a:r>
              <a:rPr lang="en-US" sz="2400" dirty="0"/>
              <a:t>Once you get through the rooms in the previous slide it’s time to try </a:t>
            </a:r>
          </a:p>
          <a:p>
            <a:r>
              <a:rPr lang="en-US" sz="2400" dirty="0"/>
              <a:t>Something a little more challenging. Wireshark is often used in Digital </a:t>
            </a:r>
          </a:p>
          <a:p>
            <a:r>
              <a:rPr lang="en-US" sz="2400" dirty="0"/>
              <a:t>Forensics in Incident Response (DFIR) for determining Indicators of Compromise</a:t>
            </a:r>
          </a:p>
          <a:p>
            <a:r>
              <a:rPr lang="en-US" sz="2400" dirty="0"/>
              <a:t>(IOCs).</a:t>
            </a:r>
          </a:p>
          <a:p>
            <a:endParaRPr lang="en-US" sz="2400" dirty="0"/>
          </a:p>
          <a:p>
            <a:r>
              <a:rPr lang="en-US" sz="2400" dirty="0"/>
              <a:t>So here’s a few resources for you to try some DFIR focused Wireshark Challenges:</a:t>
            </a:r>
          </a:p>
          <a:p>
            <a:endParaRPr lang="en-US" sz="2400" dirty="0"/>
          </a:p>
          <a:p>
            <a:r>
              <a:rPr lang="en-US" sz="2400" dirty="0"/>
              <a:t>Malware Traffic Analysis:</a:t>
            </a:r>
          </a:p>
          <a:p>
            <a:endParaRPr lang="en-US" sz="2400" dirty="0"/>
          </a:p>
          <a:p>
            <a:r>
              <a:rPr lang="en-US" sz="2400" dirty="0">
                <a:hlinkClick r:id="rId3"/>
              </a:rPr>
              <a:t>https://www.malware-traffic-analysis.net/index.html</a:t>
            </a:r>
            <a:r>
              <a:rPr lang="en-US" sz="2400" dirty="0"/>
              <a:t> (Hint: Think about the way</a:t>
            </a:r>
          </a:p>
          <a:p>
            <a:r>
              <a:rPr lang="en-US" sz="2400" dirty="0"/>
              <a:t>Malware behaves.) This site also has quizzes and the answers to the challenges.</a:t>
            </a:r>
          </a:p>
          <a:p>
            <a:endParaRPr lang="en-US" sz="2400" dirty="0"/>
          </a:p>
          <a:p>
            <a:r>
              <a:rPr lang="en-US" sz="2400" dirty="0">
                <a:hlinkClick r:id="rId4"/>
              </a:rPr>
              <a:t>http://dataset.tlm.unavarra.es/ransomware/</a:t>
            </a:r>
            <a:r>
              <a:rPr lang="en-US" sz="2400" dirty="0"/>
              <a:t> (This is for those DFIR Ninja’s!)</a:t>
            </a:r>
          </a:p>
          <a:p>
            <a:endParaRPr lang="en-US" sz="2400" dirty="0"/>
          </a:p>
        </p:txBody>
      </p:sp>
    </p:spTree>
    <p:extLst>
      <p:ext uri="{BB962C8B-B14F-4D97-AF65-F5344CB8AC3E}">
        <p14:creationId xmlns:p14="http://schemas.microsoft.com/office/powerpoint/2010/main" val="880768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F9E07F-877F-5AC6-D298-BF33E1EFE72B}"/>
              </a:ext>
            </a:extLst>
          </p:cNvPr>
          <p:cNvSpPr txBox="1"/>
          <p:nvPr/>
        </p:nvSpPr>
        <p:spPr>
          <a:xfrm>
            <a:off x="3626830" y="159591"/>
            <a:ext cx="4938340"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I think we need a bigger boat…</a:t>
            </a:r>
          </a:p>
        </p:txBody>
      </p:sp>
      <p:pic>
        <p:nvPicPr>
          <p:cNvPr id="5" name="Picture 4">
            <a:extLst>
              <a:ext uri="{FF2B5EF4-FFF2-40B4-BE49-F238E27FC236}">
                <a16:creationId xmlns:a16="http://schemas.microsoft.com/office/drawing/2014/main" id="{1472F106-A9C8-836B-94A7-595BE7AB3749}"/>
              </a:ext>
            </a:extLst>
          </p:cNvPr>
          <p:cNvPicPr>
            <a:picLocks noChangeAspect="1"/>
          </p:cNvPicPr>
          <p:nvPr/>
        </p:nvPicPr>
        <p:blipFill>
          <a:blip r:embed="rId2"/>
          <a:stretch>
            <a:fillRect/>
          </a:stretch>
        </p:blipFill>
        <p:spPr>
          <a:xfrm>
            <a:off x="10209166" y="0"/>
            <a:ext cx="1359526" cy="1365622"/>
          </a:xfrm>
          <a:prstGeom prst="rect">
            <a:avLst/>
          </a:prstGeom>
        </p:spPr>
      </p:pic>
      <p:sp>
        <p:nvSpPr>
          <p:cNvPr id="6" name="TextBox 5">
            <a:extLst>
              <a:ext uri="{FF2B5EF4-FFF2-40B4-BE49-F238E27FC236}">
                <a16:creationId xmlns:a16="http://schemas.microsoft.com/office/drawing/2014/main" id="{97B5B219-582A-0F92-B20A-88CD3243C816}"/>
              </a:ext>
            </a:extLst>
          </p:cNvPr>
          <p:cNvSpPr txBox="1"/>
          <p:nvPr/>
        </p:nvSpPr>
        <p:spPr>
          <a:xfrm>
            <a:off x="1184423" y="797510"/>
            <a:ext cx="10190482" cy="5262979"/>
          </a:xfrm>
          <a:prstGeom prst="rect">
            <a:avLst/>
          </a:prstGeom>
          <a:noFill/>
        </p:spPr>
        <p:txBody>
          <a:bodyPr wrap="none" rtlCol="0">
            <a:spAutoFit/>
          </a:bodyPr>
          <a:lstStyle/>
          <a:p>
            <a:r>
              <a:rPr lang="en-US" sz="2400" dirty="0"/>
              <a:t>Once you get through the rooms in the previous slide it’s time to try </a:t>
            </a:r>
          </a:p>
          <a:p>
            <a:r>
              <a:rPr lang="en-US" sz="2400" dirty="0"/>
              <a:t>Something a little more challenging. Wireshark is often used in Digital </a:t>
            </a:r>
          </a:p>
          <a:p>
            <a:r>
              <a:rPr lang="en-US" sz="2400" dirty="0"/>
              <a:t>Forensics in Incident Response (DFIR) for determining Indicators of Compromise</a:t>
            </a:r>
          </a:p>
          <a:p>
            <a:r>
              <a:rPr lang="en-US" sz="2400" dirty="0"/>
              <a:t>(IOCs).</a:t>
            </a:r>
          </a:p>
          <a:p>
            <a:endParaRPr lang="en-US" sz="2400" dirty="0"/>
          </a:p>
          <a:p>
            <a:r>
              <a:rPr lang="en-US" sz="2400" dirty="0"/>
              <a:t>So, here’s a few resources for you to try some DFIR focused Wireshark Challenges:</a:t>
            </a:r>
          </a:p>
          <a:p>
            <a:endParaRPr lang="en-US" sz="2400" dirty="0"/>
          </a:p>
          <a:p>
            <a:r>
              <a:rPr lang="en-US" sz="2400" dirty="0"/>
              <a:t>Malware Traffic Analysis:</a:t>
            </a:r>
          </a:p>
          <a:p>
            <a:endParaRPr lang="en-US" sz="2400" dirty="0"/>
          </a:p>
          <a:p>
            <a:r>
              <a:rPr lang="en-US" sz="2400" dirty="0">
                <a:hlinkClick r:id="rId3"/>
              </a:rPr>
              <a:t>https://www.malware-traffic-analysis.net/index.html</a:t>
            </a:r>
            <a:r>
              <a:rPr lang="en-US" sz="2400" dirty="0"/>
              <a:t> (Hint: Think about the way</a:t>
            </a:r>
          </a:p>
          <a:p>
            <a:r>
              <a:rPr lang="en-US" sz="2400" dirty="0"/>
              <a:t>Malware behaves.) This site also has quizzes and the answers to the challenges.</a:t>
            </a:r>
          </a:p>
          <a:p>
            <a:endParaRPr lang="en-US" sz="2400" dirty="0"/>
          </a:p>
          <a:p>
            <a:r>
              <a:rPr lang="en-US" sz="2400" dirty="0">
                <a:hlinkClick r:id="rId4"/>
              </a:rPr>
              <a:t>http://dataset.tlm.unavarra.es/ransomware/</a:t>
            </a:r>
            <a:r>
              <a:rPr lang="en-US" sz="2400" dirty="0"/>
              <a:t> (This is for those DFIR Ninja’s!)</a:t>
            </a:r>
          </a:p>
          <a:p>
            <a:endParaRPr lang="en-US" sz="2400" dirty="0"/>
          </a:p>
        </p:txBody>
      </p:sp>
    </p:spTree>
    <p:extLst>
      <p:ext uri="{BB962C8B-B14F-4D97-AF65-F5344CB8AC3E}">
        <p14:creationId xmlns:p14="http://schemas.microsoft.com/office/powerpoint/2010/main" val="1402694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F9E07F-877F-5AC6-D298-BF33E1EFE72B}"/>
              </a:ext>
            </a:extLst>
          </p:cNvPr>
          <p:cNvSpPr txBox="1"/>
          <p:nvPr/>
        </p:nvSpPr>
        <p:spPr>
          <a:xfrm>
            <a:off x="4710139" y="167861"/>
            <a:ext cx="2771721"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Let’s go fishing…</a:t>
            </a: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pic>
        <p:nvPicPr>
          <p:cNvPr id="5" name="Picture 4">
            <a:extLst>
              <a:ext uri="{FF2B5EF4-FFF2-40B4-BE49-F238E27FC236}">
                <a16:creationId xmlns:a16="http://schemas.microsoft.com/office/drawing/2014/main" id="{1472F106-A9C8-836B-94A7-595BE7AB3749}"/>
              </a:ext>
            </a:extLst>
          </p:cNvPr>
          <p:cNvPicPr>
            <a:picLocks noChangeAspect="1"/>
          </p:cNvPicPr>
          <p:nvPr/>
        </p:nvPicPr>
        <p:blipFill>
          <a:blip r:embed="rId2"/>
          <a:stretch>
            <a:fillRect/>
          </a:stretch>
        </p:blipFill>
        <p:spPr>
          <a:xfrm>
            <a:off x="10209166" y="0"/>
            <a:ext cx="1359526" cy="1365622"/>
          </a:xfrm>
          <a:prstGeom prst="rect">
            <a:avLst/>
          </a:prstGeom>
        </p:spPr>
      </p:pic>
      <p:sp>
        <p:nvSpPr>
          <p:cNvPr id="6" name="TextBox 5">
            <a:extLst>
              <a:ext uri="{FF2B5EF4-FFF2-40B4-BE49-F238E27FC236}">
                <a16:creationId xmlns:a16="http://schemas.microsoft.com/office/drawing/2014/main" id="{97B5B219-582A-0F92-B20A-88CD3243C816}"/>
              </a:ext>
            </a:extLst>
          </p:cNvPr>
          <p:cNvSpPr txBox="1"/>
          <p:nvPr/>
        </p:nvSpPr>
        <p:spPr>
          <a:xfrm>
            <a:off x="1184423" y="797510"/>
            <a:ext cx="8973226" cy="4154984"/>
          </a:xfrm>
          <a:prstGeom prst="rect">
            <a:avLst/>
          </a:prstGeom>
          <a:noFill/>
        </p:spPr>
        <p:txBody>
          <a:bodyPr wrap="none" rtlCol="0">
            <a:spAutoFit/>
          </a:bodyPr>
          <a:lstStyle/>
          <a:p>
            <a:r>
              <a:rPr lang="en-US" sz="2400" dirty="0"/>
              <a:t>To help you get a sense of what live network traffic looks like, and how</a:t>
            </a:r>
          </a:p>
          <a:p>
            <a:r>
              <a:rPr lang="en-US" sz="2400" dirty="0"/>
              <a:t>noisy scanning tools like </a:t>
            </a:r>
            <a:r>
              <a:rPr lang="en-US" sz="2400" dirty="0" err="1"/>
              <a:t>nmap</a:t>
            </a:r>
            <a:r>
              <a:rPr lang="en-US" sz="2400" dirty="0"/>
              <a:t> </a:t>
            </a:r>
            <a:r>
              <a:rPr lang="en-US" sz="2400" dirty="0" err="1"/>
              <a:t>etc</a:t>
            </a:r>
            <a:r>
              <a:rPr lang="en-US" sz="2400" dirty="0"/>
              <a:t> can be. I wrote a TCP Scanner/Attack</a:t>
            </a:r>
          </a:p>
          <a:p>
            <a:r>
              <a:rPr lang="en-US" sz="2400" dirty="0"/>
              <a:t>Tool in CNS to keep myself entertained. It uses Python’s </a:t>
            </a:r>
            <a:r>
              <a:rPr lang="en-US" sz="2400" dirty="0" err="1"/>
              <a:t>scapy</a:t>
            </a:r>
            <a:r>
              <a:rPr lang="en-US" sz="2400" dirty="0"/>
              <a:t> library so</a:t>
            </a:r>
          </a:p>
          <a:p>
            <a:r>
              <a:rPr lang="en-US" sz="2400" dirty="0"/>
              <a:t>those nerds out there feel free to pick up and play with it.</a:t>
            </a:r>
          </a:p>
          <a:p>
            <a:endParaRPr lang="en-US" sz="2400" dirty="0"/>
          </a:p>
          <a:p>
            <a:r>
              <a:rPr lang="en-US" sz="2400" dirty="0"/>
              <a:t>You need to network 2 VM’s together. So, try this on a UWE PC if your</a:t>
            </a:r>
          </a:p>
          <a:p>
            <a:r>
              <a:rPr lang="en-US" sz="2400" dirty="0"/>
              <a:t>Laptop struggles.</a:t>
            </a:r>
          </a:p>
          <a:p>
            <a:endParaRPr lang="en-US" sz="2400" dirty="0"/>
          </a:p>
          <a:p>
            <a:r>
              <a:rPr lang="en-US" sz="2400" dirty="0"/>
              <a:t>The source code can be found on the Falcons </a:t>
            </a:r>
            <a:r>
              <a:rPr lang="en-US" sz="2400" dirty="0" err="1"/>
              <a:t>Github</a:t>
            </a:r>
            <a:r>
              <a:rPr lang="en-US" sz="2400" dirty="0"/>
              <a:t>:</a:t>
            </a:r>
          </a:p>
          <a:p>
            <a:endParaRPr lang="en-US" sz="2400" dirty="0"/>
          </a:p>
          <a:p>
            <a:r>
              <a:rPr lang="en-US" sz="2400" dirty="0">
                <a:solidFill>
                  <a:srgbClr val="002060"/>
                </a:solidFill>
                <a:hlinkClick r:id="rId3">
                  <a:extLst>
                    <a:ext uri="{A12FA001-AC4F-418D-AE19-62706E023703}">
                      <ahyp:hlinkClr xmlns:ahyp="http://schemas.microsoft.com/office/drawing/2018/hyperlinkcolor" val="tx"/>
                    </a:ext>
                  </a:extLst>
                </a:hlinkClick>
              </a:rPr>
              <a:t>Challenges/_</a:t>
            </a:r>
            <a:r>
              <a:rPr lang="en-US" sz="2400" dirty="0" err="1">
                <a:solidFill>
                  <a:srgbClr val="002060"/>
                </a:solidFill>
                <a:hlinkClick r:id="rId3">
                  <a:extLst>
                    <a:ext uri="{A12FA001-AC4F-418D-AE19-62706E023703}">
                      <ahyp:hlinkClr xmlns:ahyp="http://schemas.microsoft.com/office/drawing/2018/hyperlinkcolor" val="tx"/>
                    </a:ext>
                  </a:extLst>
                </a:hlinkClick>
              </a:rPr>
              <a:t>BootCamp</a:t>
            </a:r>
            <a:r>
              <a:rPr lang="en-US" sz="2400" dirty="0">
                <a:solidFill>
                  <a:srgbClr val="002060"/>
                </a:solidFill>
                <a:hlinkClick r:id="rId3">
                  <a:extLst>
                    <a:ext uri="{A12FA001-AC4F-418D-AE19-62706E023703}">
                      <ahyp:hlinkClr xmlns:ahyp="http://schemas.microsoft.com/office/drawing/2018/hyperlinkcolor" val="tx"/>
                    </a:ext>
                  </a:extLst>
                </a:hlinkClick>
              </a:rPr>
              <a:t> at main · </a:t>
            </a:r>
            <a:r>
              <a:rPr lang="en-US" sz="2400" dirty="0" err="1">
                <a:solidFill>
                  <a:srgbClr val="002060"/>
                </a:solidFill>
                <a:hlinkClick r:id="rId3">
                  <a:extLst>
                    <a:ext uri="{A12FA001-AC4F-418D-AE19-62706E023703}">
                      <ahyp:hlinkClr xmlns:ahyp="http://schemas.microsoft.com/office/drawing/2018/hyperlinkcolor" val="tx"/>
                    </a:ext>
                  </a:extLst>
                </a:hlinkClick>
              </a:rPr>
              <a:t>CTFFalcons</a:t>
            </a:r>
            <a:r>
              <a:rPr lang="en-US" sz="2400" dirty="0">
                <a:solidFill>
                  <a:srgbClr val="002060"/>
                </a:solidFill>
                <a:hlinkClick r:id="rId3">
                  <a:extLst>
                    <a:ext uri="{A12FA001-AC4F-418D-AE19-62706E023703}">
                      <ahyp:hlinkClr xmlns:ahyp="http://schemas.microsoft.com/office/drawing/2018/hyperlinkcolor" val="tx"/>
                    </a:ext>
                  </a:extLst>
                </a:hlinkClick>
              </a:rPr>
              <a:t>/Challenges (github.com)</a:t>
            </a:r>
            <a:endParaRPr lang="en-US" sz="2400" dirty="0">
              <a:solidFill>
                <a:srgbClr val="002060"/>
              </a:solidFill>
            </a:endParaRPr>
          </a:p>
        </p:txBody>
      </p:sp>
    </p:spTree>
    <p:extLst>
      <p:ext uri="{BB962C8B-B14F-4D97-AF65-F5344CB8AC3E}">
        <p14:creationId xmlns:p14="http://schemas.microsoft.com/office/powerpoint/2010/main" val="2071711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F9E07F-877F-5AC6-D298-BF33E1EFE72B}"/>
              </a:ext>
            </a:extLst>
          </p:cNvPr>
          <p:cNvSpPr txBox="1"/>
          <p:nvPr/>
        </p:nvSpPr>
        <p:spPr>
          <a:xfrm>
            <a:off x="4710139" y="167861"/>
            <a:ext cx="2771721" cy="523220"/>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prstClr val="black"/>
                </a:solidFill>
                <a:latin typeface="Tw Cen MT" panose="020B0602020104020603"/>
              </a:rPr>
              <a:t>Let’s go fishing…</a:t>
            </a:r>
            <a:endPar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pic>
        <p:nvPicPr>
          <p:cNvPr id="5" name="Picture 4">
            <a:extLst>
              <a:ext uri="{FF2B5EF4-FFF2-40B4-BE49-F238E27FC236}">
                <a16:creationId xmlns:a16="http://schemas.microsoft.com/office/drawing/2014/main" id="{1472F106-A9C8-836B-94A7-595BE7AB3749}"/>
              </a:ext>
            </a:extLst>
          </p:cNvPr>
          <p:cNvPicPr>
            <a:picLocks noChangeAspect="1"/>
          </p:cNvPicPr>
          <p:nvPr/>
        </p:nvPicPr>
        <p:blipFill>
          <a:blip r:embed="rId2"/>
          <a:stretch>
            <a:fillRect/>
          </a:stretch>
        </p:blipFill>
        <p:spPr>
          <a:xfrm>
            <a:off x="10209166" y="0"/>
            <a:ext cx="1359526" cy="1365622"/>
          </a:xfrm>
          <a:prstGeom prst="rect">
            <a:avLst/>
          </a:prstGeom>
        </p:spPr>
      </p:pic>
      <p:sp>
        <p:nvSpPr>
          <p:cNvPr id="6" name="TextBox 5">
            <a:extLst>
              <a:ext uri="{FF2B5EF4-FFF2-40B4-BE49-F238E27FC236}">
                <a16:creationId xmlns:a16="http://schemas.microsoft.com/office/drawing/2014/main" id="{97B5B219-582A-0F92-B20A-88CD3243C816}"/>
              </a:ext>
            </a:extLst>
          </p:cNvPr>
          <p:cNvSpPr txBox="1"/>
          <p:nvPr/>
        </p:nvSpPr>
        <p:spPr>
          <a:xfrm>
            <a:off x="1184423" y="797510"/>
            <a:ext cx="8973226" cy="5262979"/>
          </a:xfrm>
          <a:prstGeom prst="rect">
            <a:avLst/>
          </a:prstGeom>
          <a:noFill/>
        </p:spPr>
        <p:txBody>
          <a:bodyPr wrap="none" rtlCol="0">
            <a:spAutoFit/>
          </a:bodyPr>
          <a:lstStyle/>
          <a:p>
            <a:r>
              <a:rPr lang="en-US" sz="2400" dirty="0"/>
              <a:t>To help you get a sense of what live network traffic looks like, and how</a:t>
            </a:r>
          </a:p>
          <a:p>
            <a:r>
              <a:rPr lang="en-US" sz="2400" dirty="0"/>
              <a:t>noisy scanning tools like </a:t>
            </a:r>
            <a:r>
              <a:rPr lang="en-US" sz="2400" dirty="0" err="1"/>
              <a:t>nmap</a:t>
            </a:r>
            <a:r>
              <a:rPr lang="en-US" sz="2400" dirty="0"/>
              <a:t> </a:t>
            </a:r>
            <a:r>
              <a:rPr lang="en-US" sz="2400" dirty="0" err="1"/>
              <a:t>etc</a:t>
            </a:r>
            <a:r>
              <a:rPr lang="en-US" sz="2400" dirty="0"/>
              <a:t> can be. I wrote a TCP Scanner/Attack</a:t>
            </a:r>
          </a:p>
          <a:p>
            <a:r>
              <a:rPr lang="en-US" sz="2400" dirty="0"/>
              <a:t>Tool in CNS to keep myself entertained. It uses Python’s </a:t>
            </a:r>
            <a:r>
              <a:rPr lang="en-US" sz="2400" dirty="0" err="1"/>
              <a:t>scapy</a:t>
            </a:r>
            <a:r>
              <a:rPr lang="en-US" sz="2400" dirty="0"/>
              <a:t> library so</a:t>
            </a:r>
          </a:p>
          <a:p>
            <a:r>
              <a:rPr lang="en-US" sz="2400" dirty="0"/>
              <a:t>those nerds out there feel free to pick up and play with it.</a:t>
            </a:r>
          </a:p>
          <a:p>
            <a:endParaRPr lang="en-US" sz="2400" dirty="0"/>
          </a:p>
          <a:p>
            <a:r>
              <a:rPr lang="en-US" sz="2400" dirty="0"/>
              <a:t>You need to network 2 VM’s together. So, try this on a UWE PC if your</a:t>
            </a:r>
          </a:p>
          <a:p>
            <a:r>
              <a:rPr lang="en-US" sz="2400" dirty="0"/>
              <a:t>Laptop struggles.</a:t>
            </a:r>
          </a:p>
          <a:p>
            <a:endParaRPr lang="en-US" sz="2400" dirty="0"/>
          </a:p>
          <a:p>
            <a:r>
              <a:rPr lang="en-US" sz="2400" dirty="0"/>
              <a:t>The source code can be found on the Falcons </a:t>
            </a:r>
            <a:r>
              <a:rPr lang="en-US" sz="2400" dirty="0" err="1"/>
              <a:t>Github</a:t>
            </a:r>
            <a:r>
              <a:rPr lang="en-US" sz="2400" dirty="0"/>
              <a:t>:</a:t>
            </a:r>
          </a:p>
          <a:p>
            <a:endParaRPr lang="en-US" sz="2400" dirty="0"/>
          </a:p>
          <a:p>
            <a:r>
              <a:rPr lang="en-US" sz="2400" dirty="0">
                <a:solidFill>
                  <a:srgbClr val="002060"/>
                </a:solidFill>
                <a:hlinkClick r:id="rId3">
                  <a:extLst>
                    <a:ext uri="{A12FA001-AC4F-418D-AE19-62706E023703}">
                      <ahyp:hlinkClr xmlns:ahyp="http://schemas.microsoft.com/office/drawing/2018/hyperlinkcolor" val="tx"/>
                    </a:ext>
                  </a:extLst>
                </a:hlinkClick>
              </a:rPr>
              <a:t>Challenges/_</a:t>
            </a:r>
            <a:r>
              <a:rPr lang="en-US" sz="2400" dirty="0" err="1">
                <a:solidFill>
                  <a:srgbClr val="002060"/>
                </a:solidFill>
                <a:hlinkClick r:id="rId3">
                  <a:extLst>
                    <a:ext uri="{A12FA001-AC4F-418D-AE19-62706E023703}">
                      <ahyp:hlinkClr xmlns:ahyp="http://schemas.microsoft.com/office/drawing/2018/hyperlinkcolor" val="tx"/>
                    </a:ext>
                  </a:extLst>
                </a:hlinkClick>
              </a:rPr>
              <a:t>BootCamp</a:t>
            </a:r>
            <a:r>
              <a:rPr lang="en-US" sz="2400" dirty="0">
                <a:solidFill>
                  <a:srgbClr val="002060"/>
                </a:solidFill>
                <a:hlinkClick r:id="rId3">
                  <a:extLst>
                    <a:ext uri="{A12FA001-AC4F-418D-AE19-62706E023703}">
                      <ahyp:hlinkClr xmlns:ahyp="http://schemas.microsoft.com/office/drawing/2018/hyperlinkcolor" val="tx"/>
                    </a:ext>
                  </a:extLst>
                </a:hlinkClick>
              </a:rPr>
              <a:t> at main · </a:t>
            </a:r>
            <a:r>
              <a:rPr lang="en-US" sz="2400" dirty="0" err="1">
                <a:solidFill>
                  <a:srgbClr val="002060"/>
                </a:solidFill>
                <a:hlinkClick r:id="rId3">
                  <a:extLst>
                    <a:ext uri="{A12FA001-AC4F-418D-AE19-62706E023703}">
                      <ahyp:hlinkClr xmlns:ahyp="http://schemas.microsoft.com/office/drawing/2018/hyperlinkcolor" val="tx"/>
                    </a:ext>
                  </a:extLst>
                </a:hlinkClick>
              </a:rPr>
              <a:t>CTFFalcons</a:t>
            </a:r>
            <a:r>
              <a:rPr lang="en-US" sz="2400" dirty="0">
                <a:solidFill>
                  <a:srgbClr val="002060"/>
                </a:solidFill>
                <a:hlinkClick r:id="rId3">
                  <a:extLst>
                    <a:ext uri="{A12FA001-AC4F-418D-AE19-62706E023703}">
                      <ahyp:hlinkClr xmlns:ahyp="http://schemas.microsoft.com/office/drawing/2018/hyperlinkcolor" val="tx"/>
                    </a:ext>
                  </a:extLst>
                </a:hlinkClick>
              </a:rPr>
              <a:t>/Challenges (github.com)</a:t>
            </a:r>
            <a:endParaRPr lang="en-US" sz="2400" dirty="0">
              <a:solidFill>
                <a:srgbClr val="002060"/>
              </a:solidFill>
            </a:endParaRPr>
          </a:p>
          <a:p>
            <a:endParaRPr lang="en-US" sz="2400" dirty="0">
              <a:solidFill>
                <a:srgbClr val="002060"/>
              </a:solidFill>
            </a:endParaRPr>
          </a:p>
          <a:p>
            <a:r>
              <a:rPr lang="en-US" sz="2400" dirty="0"/>
              <a:t>To run copy the TCP SCAT source code to Visual Studio in your UWE VM</a:t>
            </a:r>
          </a:p>
          <a:p>
            <a:r>
              <a:rPr lang="en-US" sz="2400" dirty="0"/>
              <a:t>and save the file. Then execute with: </a:t>
            </a:r>
            <a:r>
              <a:rPr lang="en-US" sz="2400" dirty="0" err="1"/>
              <a:t>sudo</a:t>
            </a:r>
            <a:r>
              <a:rPr lang="en-US" sz="2400" dirty="0"/>
              <a:t> python3 tcpscat.py</a:t>
            </a:r>
          </a:p>
        </p:txBody>
      </p:sp>
    </p:spTree>
    <p:extLst>
      <p:ext uri="{BB962C8B-B14F-4D97-AF65-F5344CB8AC3E}">
        <p14:creationId xmlns:p14="http://schemas.microsoft.com/office/powerpoint/2010/main" val="850084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FD4DC9-480E-E9DF-618F-3B1C85C7DD57}"/>
              </a:ext>
            </a:extLst>
          </p:cNvPr>
          <p:cNvSpPr txBox="1"/>
          <p:nvPr/>
        </p:nvSpPr>
        <p:spPr>
          <a:xfrm>
            <a:off x="4313091" y="252087"/>
            <a:ext cx="3565817" cy="523220"/>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Event Sign Ups.</a:t>
            </a:r>
          </a:p>
        </p:txBody>
      </p:sp>
      <p:pic>
        <p:nvPicPr>
          <p:cNvPr id="4" name="Picture 3">
            <a:extLst>
              <a:ext uri="{FF2B5EF4-FFF2-40B4-BE49-F238E27FC236}">
                <a16:creationId xmlns:a16="http://schemas.microsoft.com/office/drawing/2014/main" id="{79F0497B-A517-B0A6-A513-B17FB24571A8}"/>
              </a:ext>
            </a:extLst>
          </p:cNvPr>
          <p:cNvPicPr>
            <a:picLocks noChangeAspect="1"/>
          </p:cNvPicPr>
          <p:nvPr/>
        </p:nvPicPr>
        <p:blipFill>
          <a:blip r:embed="rId2"/>
          <a:stretch>
            <a:fillRect/>
          </a:stretch>
        </p:blipFill>
        <p:spPr>
          <a:xfrm>
            <a:off x="1541588" y="2043248"/>
            <a:ext cx="2771504" cy="2762078"/>
          </a:xfrm>
          <a:prstGeom prst="rect">
            <a:avLst/>
          </a:prstGeom>
        </p:spPr>
      </p:pic>
      <p:pic>
        <p:nvPicPr>
          <p:cNvPr id="6" name="Picture 5" descr="A qr code on a white background&#10;&#10;Description automatically generated">
            <a:extLst>
              <a:ext uri="{FF2B5EF4-FFF2-40B4-BE49-F238E27FC236}">
                <a16:creationId xmlns:a16="http://schemas.microsoft.com/office/drawing/2014/main" id="{9273153A-3FF1-5A38-B94C-D7EFB308BC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8908" y="2038535"/>
            <a:ext cx="2771504" cy="2771504"/>
          </a:xfrm>
          <a:prstGeom prst="rect">
            <a:avLst/>
          </a:prstGeom>
        </p:spPr>
      </p:pic>
      <p:sp>
        <p:nvSpPr>
          <p:cNvPr id="7" name="TextBox 6">
            <a:extLst>
              <a:ext uri="{FF2B5EF4-FFF2-40B4-BE49-F238E27FC236}">
                <a16:creationId xmlns:a16="http://schemas.microsoft.com/office/drawing/2014/main" id="{9858603C-525E-62ED-58EA-793BB8811EA5}"/>
              </a:ext>
            </a:extLst>
          </p:cNvPr>
          <p:cNvSpPr txBox="1"/>
          <p:nvPr/>
        </p:nvSpPr>
        <p:spPr>
          <a:xfrm>
            <a:off x="1144431" y="1416609"/>
            <a:ext cx="3565817" cy="523220"/>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UWE Falcons Website</a:t>
            </a:r>
          </a:p>
        </p:txBody>
      </p:sp>
      <p:sp>
        <p:nvSpPr>
          <p:cNvPr id="8" name="TextBox 7">
            <a:extLst>
              <a:ext uri="{FF2B5EF4-FFF2-40B4-BE49-F238E27FC236}">
                <a16:creationId xmlns:a16="http://schemas.microsoft.com/office/drawing/2014/main" id="{4C9DE60D-758D-8786-AA13-047F06C698B6}"/>
              </a:ext>
            </a:extLst>
          </p:cNvPr>
          <p:cNvSpPr txBox="1"/>
          <p:nvPr/>
        </p:nvSpPr>
        <p:spPr>
          <a:xfrm>
            <a:off x="7481754" y="1416609"/>
            <a:ext cx="3565817" cy="523220"/>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w Cen MT" panose="020B0602020104020603"/>
                <a:ea typeface="+mn-ea"/>
                <a:cs typeface="+mn-cs"/>
              </a:rPr>
              <a:t>SU Membership Portal</a:t>
            </a:r>
          </a:p>
        </p:txBody>
      </p:sp>
      <p:pic>
        <p:nvPicPr>
          <p:cNvPr id="3" name="Picture 2">
            <a:extLst>
              <a:ext uri="{FF2B5EF4-FFF2-40B4-BE49-F238E27FC236}">
                <a16:creationId xmlns:a16="http://schemas.microsoft.com/office/drawing/2014/main" id="{F41A7B24-D91D-C469-6E7B-C9B455614728}"/>
              </a:ext>
            </a:extLst>
          </p:cNvPr>
          <p:cNvPicPr>
            <a:picLocks noChangeAspect="1"/>
          </p:cNvPicPr>
          <p:nvPr/>
        </p:nvPicPr>
        <p:blipFill>
          <a:blip r:embed="rId4"/>
          <a:stretch>
            <a:fillRect/>
          </a:stretch>
        </p:blipFill>
        <p:spPr>
          <a:xfrm>
            <a:off x="10227577" y="1634"/>
            <a:ext cx="1359526" cy="1365622"/>
          </a:xfrm>
          <a:prstGeom prst="rect">
            <a:avLst/>
          </a:prstGeom>
        </p:spPr>
      </p:pic>
      <p:sp>
        <p:nvSpPr>
          <p:cNvPr id="5" name="TextBox 4">
            <a:extLst>
              <a:ext uri="{FF2B5EF4-FFF2-40B4-BE49-F238E27FC236}">
                <a16:creationId xmlns:a16="http://schemas.microsoft.com/office/drawing/2014/main" id="{3BE357A6-D3E5-3884-B108-1CE8BE583379}"/>
              </a:ext>
            </a:extLst>
          </p:cNvPr>
          <p:cNvSpPr txBox="1"/>
          <p:nvPr/>
        </p:nvSpPr>
        <p:spPr>
          <a:xfrm>
            <a:off x="1336074" y="5441391"/>
            <a:ext cx="9519850" cy="461665"/>
          </a:xfrm>
          <a:prstGeom prst="rect">
            <a:avLst/>
          </a:prstGeom>
          <a:noFill/>
        </p:spPr>
        <p:txBody>
          <a:bodyPr wrap="none" rtlCol="0">
            <a:spAutoFit/>
          </a:bodyPr>
          <a:lstStyle/>
          <a:p>
            <a:r>
              <a:rPr lang="en-US" sz="2400" b="1" dirty="0"/>
              <a:t>Head to our website/SU Page and please sign up to our upcoming events</a:t>
            </a:r>
            <a:endParaRPr lang="en-GB" sz="2400" b="1" dirty="0"/>
          </a:p>
        </p:txBody>
      </p:sp>
    </p:spTree>
    <p:extLst>
      <p:ext uri="{BB962C8B-B14F-4D97-AF65-F5344CB8AC3E}">
        <p14:creationId xmlns:p14="http://schemas.microsoft.com/office/powerpoint/2010/main" val="646627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hield with a red eagle and white text&#10;&#10;Description automatically generated">
            <a:extLst>
              <a:ext uri="{FF2B5EF4-FFF2-40B4-BE49-F238E27FC236}">
                <a16:creationId xmlns:a16="http://schemas.microsoft.com/office/drawing/2014/main" id="{8BD79607-761A-2D9D-C640-A0DDC9700158}"/>
              </a:ext>
            </a:extLst>
          </p:cNvPr>
          <p:cNvPicPr>
            <a:picLocks noChangeAspect="1"/>
          </p:cNvPicPr>
          <p:nvPr/>
        </p:nvPicPr>
        <p:blipFill>
          <a:blip r:embed="rId2"/>
          <a:stretch>
            <a:fillRect/>
          </a:stretch>
        </p:blipFill>
        <p:spPr>
          <a:xfrm>
            <a:off x="10212893" y="1921"/>
            <a:ext cx="1357354" cy="1364974"/>
          </a:xfrm>
          <a:prstGeom prst="rect">
            <a:avLst/>
          </a:prstGeom>
        </p:spPr>
      </p:pic>
      <p:pic>
        <p:nvPicPr>
          <p:cNvPr id="2" name="Picture 1" descr="A qr code on a white background&#10;&#10;Description automatically generated">
            <a:extLst>
              <a:ext uri="{FF2B5EF4-FFF2-40B4-BE49-F238E27FC236}">
                <a16:creationId xmlns:a16="http://schemas.microsoft.com/office/drawing/2014/main" id="{F648E71A-43DE-01BE-AD9F-314E3F63FF1E}"/>
              </a:ext>
            </a:extLst>
          </p:cNvPr>
          <p:cNvPicPr>
            <a:picLocks noChangeAspect="1"/>
          </p:cNvPicPr>
          <p:nvPr/>
        </p:nvPicPr>
        <p:blipFill>
          <a:blip r:embed="rId3"/>
          <a:stretch>
            <a:fillRect/>
          </a:stretch>
        </p:blipFill>
        <p:spPr>
          <a:xfrm>
            <a:off x="7941387" y="1639197"/>
            <a:ext cx="1795670" cy="1789044"/>
          </a:xfrm>
          <a:prstGeom prst="rect">
            <a:avLst/>
          </a:prstGeom>
        </p:spPr>
      </p:pic>
      <p:sp>
        <p:nvSpPr>
          <p:cNvPr id="3" name="TextBox 2">
            <a:extLst>
              <a:ext uri="{FF2B5EF4-FFF2-40B4-BE49-F238E27FC236}">
                <a16:creationId xmlns:a16="http://schemas.microsoft.com/office/drawing/2014/main" id="{4AB1F4C6-DDAA-A1CC-AF2C-54DD2E6FF6F3}"/>
              </a:ext>
            </a:extLst>
          </p:cNvPr>
          <p:cNvSpPr txBox="1"/>
          <p:nvPr/>
        </p:nvSpPr>
        <p:spPr>
          <a:xfrm>
            <a:off x="7469693" y="118401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UWE CTF Falcons Website</a:t>
            </a:r>
          </a:p>
        </p:txBody>
      </p:sp>
      <p:pic>
        <p:nvPicPr>
          <p:cNvPr id="5" name="Picture 4" descr="A qr code on a white background&#10;&#10;Description automatically generated">
            <a:extLst>
              <a:ext uri="{FF2B5EF4-FFF2-40B4-BE49-F238E27FC236}">
                <a16:creationId xmlns:a16="http://schemas.microsoft.com/office/drawing/2014/main" id="{E0D56568-E898-C588-0EC3-7A6FEA90D7DD}"/>
              </a:ext>
            </a:extLst>
          </p:cNvPr>
          <p:cNvPicPr>
            <a:picLocks noChangeAspect="1"/>
          </p:cNvPicPr>
          <p:nvPr/>
        </p:nvPicPr>
        <p:blipFill>
          <a:blip r:embed="rId4"/>
          <a:stretch>
            <a:fillRect/>
          </a:stretch>
        </p:blipFill>
        <p:spPr>
          <a:xfrm>
            <a:off x="7941387" y="4666173"/>
            <a:ext cx="1789045" cy="1789045"/>
          </a:xfrm>
          <a:prstGeom prst="rect">
            <a:avLst/>
          </a:prstGeom>
        </p:spPr>
      </p:pic>
      <p:sp>
        <p:nvSpPr>
          <p:cNvPr id="7" name="TextBox 6">
            <a:extLst>
              <a:ext uri="{FF2B5EF4-FFF2-40B4-BE49-F238E27FC236}">
                <a16:creationId xmlns:a16="http://schemas.microsoft.com/office/drawing/2014/main" id="{13543132-7FE9-79CD-73D9-5EBE4FC88564}"/>
              </a:ext>
            </a:extLst>
          </p:cNvPr>
          <p:cNvSpPr txBox="1"/>
          <p:nvPr/>
        </p:nvSpPr>
        <p:spPr>
          <a:xfrm>
            <a:off x="7508582" y="409188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UWE CTF Falcons LinkedIn</a:t>
            </a:r>
          </a:p>
        </p:txBody>
      </p:sp>
      <p:pic>
        <p:nvPicPr>
          <p:cNvPr id="9" name="Picture 8" descr="A qr code with a square and square pattern&#10;&#10;Description automatically generated">
            <a:extLst>
              <a:ext uri="{FF2B5EF4-FFF2-40B4-BE49-F238E27FC236}">
                <a16:creationId xmlns:a16="http://schemas.microsoft.com/office/drawing/2014/main" id="{2A548CB0-31C5-C28C-9D62-623F82214B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6637" y="1639197"/>
            <a:ext cx="1795671" cy="1795671"/>
          </a:xfrm>
          <a:prstGeom prst="rect">
            <a:avLst/>
          </a:prstGeom>
        </p:spPr>
      </p:pic>
      <p:pic>
        <p:nvPicPr>
          <p:cNvPr id="11" name="Picture 10" descr="A qr code on a white background&#10;&#10;Description automatically generated">
            <a:extLst>
              <a:ext uri="{FF2B5EF4-FFF2-40B4-BE49-F238E27FC236}">
                <a16:creationId xmlns:a16="http://schemas.microsoft.com/office/drawing/2014/main" id="{F9460969-6011-C739-CBA3-B0EDDE63B3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26637" y="4648667"/>
            <a:ext cx="1806551" cy="1806551"/>
          </a:xfrm>
          <a:prstGeom prst="rect">
            <a:avLst/>
          </a:prstGeom>
        </p:spPr>
      </p:pic>
      <p:sp>
        <p:nvSpPr>
          <p:cNvPr id="12" name="TextBox 11">
            <a:extLst>
              <a:ext uri="{FF2B5EF4-FFF2-40B4-BE49-F238E27FC236}">
                <a16:creationId xmlns:a16="http://schemas.microsoft.com/office/drawing/2014/main" id="{8EE071CA-2E24-C1C0-AEEA-E4A9E6B4EAC8}"/>
              </a:ext>
            </a:extLst>
          </p:cNvPr>
          <p:cNvSpPr txBox="1"/>
          <p:nvPr/>
        </p:nvSpPr>
        <p:spPr>
          <a:xfrm>
            <a:off x="2264291" y="1162433"/>
            <a:ext cx="31203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CyberWomen</a:t>
            </a:r>
            <a:r>
              <a:rPr lang="en-US" dirty="0"/>
              <a:t> Groups Website</a:t>
            </a:r>
          </a:p>
        </p:txBody>
      </p:sp>
      <p:sp>
        <p:nvSpPr>
          <p:cNvPr id="13" name="TextBox 12">
            <a:extLst>
              <a:ext uri="{FF2B5EF4-FFF2-40B4-BE49-F238E27FC236}">
                <a16:creationId xmlns:a16="http://schemas.microsoft.com/office/drawing/2014/main" id="{781E6975-F929-472A-60B1-FC4AA9BF8DA5}"/>
              </a:ext>
            </a:extLst>
          </p:cNvPr>
          <p:cNvSpPr txBox="1"/>
          <p:nvPr/>
        </p:nvSpPr>
        <p:spPr>
          <a:xfrm>
            <a:off x="2348052" y="4091889"/>
            <a:ext cx="29528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CyberWomen@UWE</a:t>
            </a:r>
            <a:r>
              <a:rPr lang="en-US" dirty="0"/>
              <a:t> LinkedIn</a:t>
            </a:r>
          </a:p>
        </p:txBody>
      </p:sp>
    </p:spTree>
    <p:extLst>
      <p:ext uri="{BB962C8B-B14F-4D97-AF65-F5344CB8AC3E}">
        <p14:creationId xmlns:p14="http://schemas.microsoft.com/office/powerpoint/2010/main" val="16183526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bbe6342-4e42-4b2e-b1cd-c594304a7b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C23EF718B9F4D858A52327151A0B8" ma:contentTypeVersion="13" ma:contentTypeDescription="Create a new document." ma:contentTypeScope="" ma:versionID="7a50b93424c6574a130d168fab596f35">
  <xsd:schema xmlns:xsd="http://www.w3.org/2001/XMLSchema" xmlns:xs="http://www.w3.org/2001/XMLSchema" xmlns:p="http://schemas.microsoft.com/office/2006/metadata/properties" xmlns:ns3="8bbe6342-4e42-4b2e-b1cd-c594304a7ba5" xmlns:ns4="4358efbb-7ea5-41ed-b25b-2a89843a63c9" targetNamespace="http://schemas.microsoft.com/office/2006/metadata/properties" ma:root="true" ma:fieldsID="ce4b7244f290d027ff6f7c8c09f0e696" ns3:_="" ns4:_="">
    <xsd:import namespace="8bbe6342-4e42-4b2e-b1cd-c594304a7ba5"/>
    <xsd:import namespace="4358efbb-7ea5-41ed-b25b-2a89843a63c9"/>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be6342-4e42-4b2e-b1cd-c594304a7ba5"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58efbb-7ea5-41ed-b25b-2a89843a63c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B52BDF-E1E0-478B-88B0-065BF5F66808}">
  <ds:schemaRefs>
    <ds:schemaRef ds:uri="4358efbb-7ea5-41ed-b25b-2a89843a63c9"/>
    <ds:schemaRef ds:uri="8bbe6342-4e42-4b2e-b1cd-c594304a7b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AA97958-D534-45C8-92A5-B56AF5FBA24F}">
  <ds:schemaRefs>
    <ds:schemaRef ds:uri="http://schemas.microsoft.com/sharepoint/v3/contenttype/forms"/>
  </ds:schemaRefs>
</ds:datastoreItem>
</file>

<file path=customXml/itemProps3.xml><?xml version="1.0" encoding="utf-8"?>
<ds:datastoreItem xmlns:ds="http://schemas.openxmlformats.org/officeDocument/2006/customXml" ds:itemID="{6406A52C-3D89-45B8-BBDA-88AFFC5D77C2}">
  <ds:schemaRefs>
    <ds:schemaRef ds:uri="4358efbb-7ea5-41ed-b25b-2a89843a63c9"/>
    <ds:schemaRef ds:uri="8bbe6342-4e42-4b2e-b1cd-c594304a7b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Circuit</Template>
  <TotalTime>0</TotalTime>
  <Words>1154</Words>
  <Application>Microsoft Office PowerPoint</Application>
  <PresentationFormat>Widescreen</PresentationFormat>
  <Paragraphs>120</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Caple (Student)</dc:creator>
  <cp:lastModifiedBy>Ian Caple (Student)</cp:lastModifiedBy>
  <cp:revision>38</cp:revision>
  <dcterms:created xsi:type="dcterms:W3CDTF">2024-09-19T12:12:14Z</dcterms:created>
  <dcterms:modified xsi:type="dcterms:W3CDTF">2024-10-13T04:17:30Z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0x01010042DC23EF718B9F4D858A52327151A0B8</vt:lpwstr>
  </property>
</Properties>
</file>